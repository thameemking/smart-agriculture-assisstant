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uce" charset="1" panose="00000500000000000000"/>
      <p:regular r:id="rId15"/>
    </p:embeddedFont>
    <p:embeddedFont>
      <p:font typeface="Canva Sans Bold" charset="1" panose="020B0803030501040103"/>
      <p:regular r:id="rId16"/>
    </p:embeddedFont>
    <p:embeddedFont>
      <p:font typeface="Canva Sans" charset="1" panose="020B05030305010401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embeddings/oleObject1.bin" Type="http://schemas.openxmlformats.org/officeDocument/2006/relationships/oleObject"/></Relationships>
</file>

<file path=ppt/slides/slide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3688736" y="554642"/>
            <a:ext cx="10910528" cy="2079626"/>
          </a:xfrm>
          <a:prstGeom prst="rect">
            <a:avLst/>
          </a:prstGeom>
        </p:spPr>
        <p:txBody>
          <a:bodyPr anchor="t" rtlCol="false" tIns="0" lIns="0" bIns="0" rIns="0">
            <a:spAutoFit/>
          </a:bodyPr>
          <a:lstStyle/>
          <a:p>
            <a:pPr algn="ctr">
              <a:lnSpc>
                <a:spcPts val="8000"/>
              </a:lnSpc>
            </a:pPr>
            <a:r>
              <a:rPr lang="en-US" sz="8000" spc="-480">
                <a:solidFill>
                  <a:srgbClr val="331B0D"/>
                </a:solidFill>
                <a:latin typeface="Open Sauce"/>
                <a:ea typeface="Open Sauce"/>
                <a:cs typeface="Open Sauce"/>
                <a:sym typeface="Open Sauce"/>
              </a:rPr>
              <a:t> IoT Based Farmer Helper</a:t>
            </a:r>
          </a:p>
        </p:txBody>
      </p:sp>
      <p:sp>
        <p:nvSpPr>
          <p:cNvPr name="TextBox 3" id="3"/>
          <p:cNvSpPr txBox="true"/>
          <p:nvPr/>
        </p:nvSpPr>
        <p:spPr>
          <a:xfrm rot="0">
            <a:off x="5607869" y="2940179"/>
            <a:ext cx="7072263" cy="811530"/>
          </a:xfrm>
          <a:prstGeom prst="rect">
            <a:avLst/>
          </a:prstGeom>
        </p:spPr>
        <p:txBody>
          <a:bodyPr anchor="t" rtlCol="false" tIns="0" lIns="0" bIns="0" rIns="0">
            <a:spAutoFit/>
          </a:bodyPr>
          <a:lstStyle/>
          <a:p>
            <a:pPr algn="ctr">
              <a:lnSpc>
                <a:spcPts val="6719"/>
              </a:lnSpc>
            </a:pPr>
            <a:r>
              <a:rPr lang="en-US" sz="4800" b="true">
                <a:solidFill>
                  <a:srgbClr val="331B0D"/>
                </a:solidFill>
                <a:latin typeface="Canva Sans Bold"/>
                <a:ea typeface="Canva Sans Bold"/>
                <a:cs typeface="Canva Sans Bold"/>
                <a:sym typeface="Canva Sans Bold"/>
              </a:rPr>
              <a:t>R</a:t>
            </a:r>
            <a:r>
              <a:rPr lang="en-US" b="true" sz="4800">
                <a:solidFill>
                  <a:srgbClr val="331B0D"/>
                </a:solidFill>
                <a:latin typeface="Canva Sans Bold"/>
                <a:ea typeface="Canva Sans Bold"/>
                <a:cs typeface="Canva Sans Bold"/>
                <a:sym typeface="Canva Sans Bold"/>
              </a:rPr>
              <a:t>eview – 1</a:t>
            </a:r>
          </a:p>
        </p:txBody>
      </p:sp>
      <p:sp>
        <p:nvSpPr>
          <p:cNvPr name="TextBox 4" id="4"/>
          <p:cNvSpPr txBox="true"/>
          <p:nvPr/>
        </p:nvSpPr>
        <p:spPr>
          <a:xfrm rot="0">
            <a:off x="1028700" y="5890891"/>
            <a:ext cx="7578090" cy="3181350"/>
          </a:xfrm>
          <a:prstGeom prst="rect">
            <a:avLst/>
          </a:prstGeom>
        </p:spPr>
        <p:txBody>
          <a:bodyPr anchor="t" rtlCol="false" tIns="0" lIns="0" bIns="0" rIns="0">
            <a:spAutoFit/>
          </a:bodyPr>
          <a:lstStyle/>
          <a:p>
            <a:pPr algn="l" marL="647702" indent="-323851" lvl="1">
              <a:lnSpc>
                <a:spcPts val="4200"/>
              </a:lnSpc>
              <a:buFont typeface="Arial"/>
              <a:buChar char="•"/>
            </a:pPr>
            <a:r>
              <a:rPr lang="en-US" b="true" sz="3000">
                <a:solidFill>
                  <a:srgbClr val="331B0D"/>
                </a:solidFill>
                <a:latin typeface="Canva Sans Bold"/>
                <a:ea typeface="Canva Sans Bold"/>
                <a:cs typeface="Canva Sans Bold"/>
                <a:sym typeface="Canva Sans Bold"/>
              </a:rPr>
              <a:t>Team</a:t>
            </a:r>
            <a:r>
              <a:rPr lang="en-US" b="true" sz="3000">
                <a:solidFill>
                  <a:srgbClr val="331B0D"/>
                </a:solidFill>
                <a:latin typeface="Canva Sans Bold"/>
                <a:ea typeface="Canva Sans Bold"/>
                <a:cs typeface="Canva Sans Bold"/>
                <a:sym typeface="Canva Sans Bold"/>
              </a:rPr>
              <a:t> Members:</a:t>
            </a:r>
          </a:p>
          <a:p>
            <a:pPr algn="l">
              <a:lnSpc>
                <a:spcPts val="4200"/>
              </a:lnSpc>
            </a:pPr>
          </a:p>
          <a:p>
            <a:pPr algn="l" marL="1295403" indent="-431801" lvl="2">
              <a:lnSpc>
                <a:spcPts val="4200"/>
              </a:lnSpc>
              <a:buFont typeface="Arial"/>
              <a:buChar char="⚬"/>
            </a:pPr>
            <a:r>
              <a:rPr lang="en-US" b="true" sz="3000">
                <a:solidFill>
                  <a:srgbClr val="331B0D"/>
                </a:solidFill>
                <a:latin typeface="Canva Sans Bold"/>
                <a:ea typeface="Canva Sans Bold"/>
                <a:cs typeface="Canva Sans Bold"/>
                <a:sym typeface="Canva Sans Bold"/>
              </a:rPr>
              <a:t>Thameemul Ansari U – 22MIS1140</a:t>
            </a:r>
          </a:p>
          <a:p>
            <a:pPr algn="l">
              <a:lnSpc>
                <a:spcPts val="4200"/>
              </a:lnSpc>
            </a:pPr>
          </a:p>
          <a:p>
            <a:pPr algn="l" marL="1295403" indent="-431801" lvl="2">
              <a:lnSpc>
                <a:spcPts val="4200"/>
              </a:lnSpc>
              <a:buFont typeface="Arial"/>
              <a:buChar char="⚬"/>
            </a:pPr>
            <a:r>
              <a:rPr lang="en-US" b="true" sz="3000">
                <a:solidFill>
                  <a:srgbClr val="331B0D"/>
                </a:solidFill>
                <a:latin typeface="Canva Sans Bold"/>
                <a:ea typeface="Canva Sans Bold"/>
                <a:cs typeface="Canva Sans Bold"/>
                <a:sym typeface="Canva Sans Bold"/>
              </a:rPr>
              <a:t>Shirish S – 22MIS1121</a:t>
            </a:r>
          </a:p>
          <a:p>
            <a:pPr algn="l">
              <a:lnSpc>
                <a:spcPts val="4200"/>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4468558" y="141605"/>
            <a:ext cx="9035244"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Problem</a:t>
            </a:r>
            <a:r>
              <a:rPr lang="en-US" b="true" sz="5199">
                <a:solidFill>
                  <a:srgbClr val="000000"/>
                </a:solidFill>
                <a:latin typeface="Canva Sans Bold"/>
                <a:ea typeface="Canva Sans Bold"/>
                <a:cs typeface="Canva Sans Bold"/>
                <a:sym typeface="Canva Sans Bold"/>
              </a:rPr>
              <a:t> Statement</a:t>
            </a:r>
          </a:p>
        </p:txBody>
      </p:sp>
      <p:sp>
        <p:nvSpPr>
          <p:cNvPr name="TextBox 3" id="3"/>
          <p:cNvSpPr txBox="true"/>
          <p:nvPr/>
        </p:nvSpPr>
        <p:spPr>
          <a:xfrm rot="0">
            <a:off x="0" y="1410536"/>
            <a:ext cx="17972360" cy="7843521"/>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Canva Sans"/>
                <a:ea typeface="Canva Sans"/>
                <a:cs typeface="Canva Sans"/>
                <a:sym typeface="Canva Sans"/>
              </a:rPr>
              <a:t>Farmers pl</a:t>
            </a:r>
            <a:r>
              <a:rPr lang="en-US" sz="3200">
                <a:solidFill>
                  <a:srgbClr val="000000"/>
                </a:solidFill>
                <a:latin typeface="Canva Sans"/>
                <a:ea typeface="Canva Sans"/>
                <a:cs typeface="Canva Sans"/>
                <a:sym typeface="Canva Sans"/>
              </a:rPr>
              <a:t>ay a vital role in the economy, yet they face major challenges in accessing accurate and timely agricultural information. Most existing digital advisory platforms depend on smartphones and uninterrupted internet connectivity, which is unreliable in rural and remote areas. Language barriers further reduce adoption, as many farmers are not comfortable with English or mainstream languages used in applications.</a:t>
            </a:r>
          </a:p>
          <a:p>
            <a:pPr algn="just">
              <a:lnSpc>
                <a:spcPts val="4480"/>
              </a:lnSpc>
            </a:pPr>
          </a:p>
          <a:p>
            <a:pPr algn="just" marL="690881" indent="-345440" lvl="1">
              <a:lnSpc>
                <a:spcPts val="4480"/>
              </a:lnSpc>
              <a:buFont typeface="Arial"/>
              <a:buChar char="•"/>
            </a:pPr>
            <a:r>
              <a:rPr lang="en-US" sz="3200">
                <a:solidFill>
                  <a:srgbClr val="000000"/>
                </a:solidFill>
                <a:latin typeface="Canva Sans"/>
                <a:ea typeface="Canva Sans"/>
                <a:cs typeface="Canva Sans"/>
                <a:sym typeface="Canva Sans"/>
              </a:rPr>
              <a:t>Low digital literacy makes complex mobile apps difficult to operate, limiting effective usage. Moreover, essential data such as weather forecasts, market prices, and crop advisories are often generic and not tailored to the farmer’s exact location or crop condition. Cloud-based AI systems introduce latency, increase operational costs, and raise serious concerns regarding data privacy. Therefore, there is a strong need for a simple, low-cost, language-independent, and edge-based solution that works even with minimal internet access.</a:t>
            </a:r>
          </a:p>
          <a:p>
            <a:pPr algn="just">
              <a:lnSpc>
                <a:spcPts val="4480"/>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4563320" y="141605"/>
            <a:ext cx="9161360"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Components</a:t>
            </a:r>
            <a:r>
              <a:rPr lang="en-US" b="true" sz="5199">
                <a:solidFill>
                  <a:srgbClr val="000000"/>
                </a:solidFill>
                <a:latin typeface="Canva Sans Bold"/>
                <a:ea typeface="Canva Sans Bold"/>
                <a:cs typeface="Canva Sans Bold"/>
                <a:sym typeface="Canva Sans Bold"/>
              </a:rPr>
              <a:t> Used</a:t>
            </a:r>
          </a:p>
        </p:txBody>
      </p:sp>
      <p:sp>
        <p:nvSpPr>
          <p:cNvPr name="TextBox 3" id="3"/>
          <p:cNvSpPr txBox="true"/>
          <p:nvPr/>
        </p:nvSpPr>
        <p:spPr>
          <a:xfrm rot="0">
            <a:off x="1053426" y="1162887"/>
            <a:ext cx="16205874" cy="8981441"/>
          </a:xfrm>
          <a:prstGeom prst="rect">
            <a:avLst/>
          </a:prstGeom>
        </p:spPr>
        <p:txBody>
          <a:bodyPr anchor="t" rtlCol="false" tIns="0" lIns="0" bIns="0" rIns="0">
            <a:spAutoFit/>
          </a:bodyPr>
          <a:lstStyle/>
          <a:p>
            <a:pPr algn="just">
              <a:lnSpc>
                <a:spcPts val="4759"/>
              </a:lnSpc>
            </a:pPr>
            <a:r>
              <a:rPr lang="en-US" sz="3399" u="sng">
                <a:solidFill>
                  <a:srgbClr val="000000"/>
                </a:solidFill>
                <a:latin typeface="Canva Sans"/>
                <a:ea typeface="Canva Sans"/>
                <a:cs typeface="Canva Sans"/>
                <a:sym typeface="Canva Sans"/>
              </a:rPr>
              <a:t>Hardware Components</a:t>
            </a:r>
          </a:p>
          <a:p>
            <a:pPr algn="just" marL="734059" indent="-367030" lvl="1">
              <a:lnSpc>
                <a:spcPts val="4759"/>
              </a:lnSpc>
              <a:buFont typeface="Arial"/>
              <a:buChar char="•"/>
            </a:pPr>
            <a:r>
              <a:rPr lang="en-US" sz="3399" u="sng">
                <a:solidFill>
                  <a:srgbClr val="000000"/>
                </a:solidFill>
                <a:latin typeface="Canva Sans"/>
                <a:ea typeface="Canva Sans"/>
                <a:cs typeface="Canva Sans"/>
                <a:sym typeface="Canva Sans"/>
              </a:rPr>
              <a:t>Raspberry Pi:</a:t>
            </a:r>
          </a:p>
          <a:p>
            <a:pPr algn="just">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Serves as the edge computing unit for on-device AI processing and system control.</a:t>
            </a:r>
          </a:p>
          <a:p>
            <a:pPr algn="just" marL="734059" indent="-367030" lvl="1">
              <a:lnSpc>
                <a:spcPts val="4759"/>
              </a:lnSpc>
              <a:buFont typeface="Arial"/>
              <a:buChar char="•"/>
            </a:pPr>
            <a:r>
              <a:rPr lang="en-US" sz="3399" u="sng">
                <a:solidFill>
                  <a:srgbClr val="000000"/>
                </a:solidFill>
                <a:latin typeface="Canva Sans"/>
                <a:ea typeface="Canva Sans"/>
                <a:cs typeface="Canva Sans"/>
                <a:sym typeface="Canva Sans"/>
              </a:rPr>
              <a:t>Microphone:</a:t>
            </a:r>
          </a:p>
          <a:p>
            <a:pPr algn="just">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Captures voice queries from farmers in any local language.</a:t>
            </a:r>
          </a:p>
          <a:p>
            <a:pPr algn="just" marL="734059" indent="-367030" lvl="1">
              <a:lnSpc>
                <a:spcPts val="4759"/>
              </a:lnSpc>
              <a:buFont typeface="Arial"/>
              <a:buChar char="•"/>
            </a:pPr>
            <a:r>
              <a:rPr lang="en-US" sz="3399" u="sng">
                <a:solidFill>
                  <a:srgbClr val="000000"/>
                </a:solidFill>
                <a:latin typeface="Canva Sans"/>
                <a:ea typeface="Canva Sans"/>
                <a:cs typeface="Canva Sans"/>
                <a:sym typeface="Canva Sans"/>
              </a:rPr>
              <a:t>Push Button:</a:t>
            </a:r>
          </a:p>
          <a:p>
            <a:pPr algn="just">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Enables simple interaction without complex UI.</a:t>
            </a:r>
          </a:p>
          <a:p>
            <a:pPr algn="just" marL="734059" indent="-367030" lvl="1">
              <a:lnSpc>
                <a:spcPts val="4759"/>
              </a:lnSpc>
              <a:buFont typeface="Arial"/>
              <a:buChar char="•"/>
            </a:pPr>
            <a:r>
              <a:rPr lang="en-US" sz="3399" u="sng">
                <a:solidFill>
                  <a:srgbClr val="000000"/>
                </a:solidFill>
                <a:latin typeface="Canva Sans"/>
                <a:ea typeface="Canva Sans"/>
                <a:cs typeface="Canva Sans"/>
                <a:sym typeface="Canva Sans"/>
              </a:rPr>
              <a:t>Speaker:</a:t>
            </a:r>
          </a:p>
          <a:p>
            <a:pPr algn="just">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Provides voice-based responses for easy understanding.</a:t>
            </a:r>
          </a:p>
          <a:p>
            <a:pPr algn="just" marL="734059" indent="-367030" lvl="1">
              <a:lnSpc>
                <a:spcPts val="4759"/>
              </a:lnSpc>
              <a:buFont typeface="Arial"/>
              <a:buChar char="•"/>
            </a:pPr>
            <a:r>
              <a:rPr lang="en-US" sz="3399" u="sng">
                <a:solidFill>
                  <a:srgbClr val="000000"/>
                </a:solidFill>
                <a:latin typeface="Canva Sans"/>
                <a:ea typeface="Canva Sans"/>
                <a:cs typeface="Canva Sans"/>
                <a:sym typeface="Canva Sans"/>
              </a:rPr>
              <a:t>Display Screen:</a:t>
            </a:r>
          </a:p>
          <a:p>
            <a:pPr algn="just">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Shows summarised text output, weather details, or market prices.</a:t>
            </a:r>
          </a:p>
          <a:p>
            <a:pPr algn="just">
              <a:lnSpc>
                <a:spcPts val="4759"/>
              </a:lnSpc>
            </a:pPr>
          </a:p>
          <a:p>
            <a:pPr algn="just">
              <a:lnSpc>
                <a:spcPts val="4759"/>
              </a:lnSpc>
            </a:pPr>
          </a:p>
          <a:p>
            <a:pPr algn="just">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512405" cy="8381366"/>
          </a:xfrm>
          <a:prstGeom prst="rect">
            <a:avLst/>
          </a:prstGeom>
        </p:spPr>
        <p:txBody>
          <a:bodyPr anchor="t" rtlCol="false" tIns="0" lIns="0" bIns="0" rIns="0">
            <a:spAutoFit/>
          </a:bodyPr>
          <a:lstStyle/>
          <a:p>
            <a:pPr algn="l">
              <a:lnSpc>
                <a:spcPts val="4759"/>
              </a:lnSpc>
            </a:pPr>
            <a:r>
              <a:rPr lang="en-US" sz="3399" u="sng">
                <a:solidFill>
                  <a:srgbClr val="000000"/>
                </a:solidFill>
                <a:latin typeface="Canva Sans"/>
                <a:ea typeface="Canva Sans"/>
                <a:cs typeface="Canva Sans"/>
                <a:sym typeface="Canva Sans"/>
              </a:rPr>
              <a:t>Software &amp; Technologies</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Lightweight Edge </a:t>
            </a:r>
            <a:r>
              <a:rPr lang="en-US" sz="3399" u="sng">
                <a:solidFill>
                  <a:srgbClr val="000000"/>
                </a:solidFill>
                <a:latin typeface="Canva Sans"/>
                <a:ea typeface="Canva Sans"/>
                <a:cs typeface="Canva Sans"/>
                <a:sym typeface="Canva Sans"/>
              </a:rPr>
              <a:t>AI Model:</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Performs reasoning and response generation locally.</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Speech-to-Text (STT):</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Converts spoken queries into text on the device.</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Text-to-Speech (TTS):</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Converts AI responses back into natural voice.</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Language Detection Module:</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Automatically identifies the user’s language.</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IoT APIs:</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Fetches real-time weather and market price data.</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Python Framework:</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Integrates AI, IoT, and hardware modules.</a:t>
            </a:r>
          </a:p>
          <a:p>
            <a:pPr algn="l">
              <a:lnSpc>
                <a:spcPts val="4759"/>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2778125" y="141605"/>
            <a:ext cx="12731750" cy="887095"/>
          </a:xfrm>
          <a:prstGeom prst="rect">
            <a:avLst/>
          </a:prstGeom>
        </p:spPr>
        <p:txBody>
          <a:bodyPr anchor="t" rtlCol="false" tIns="0" lIns="0" bIns="0" rIns="0">
            <a:spAutoFit/>
          </a:bodyPr>
          <a:lstStyle/>
          <a:p>
            <a:pPr algn="ctr">
              <a:lnSpc>
                <a:spcPts val="7279"/>
              </a:lnSpc>
            </a:pPr>
            <a:r>
              <a:rPr lang="en-US" b="true" sz="5199">
                <a:solidFill>
                  <a:srgbClr val="000000"/>
                </a:solidFill>
                <a:latin typeface="Canva Sans Bold"/>
                <a:ea typeface="Canva Sans Bold"/>
                <a:cs typeface="Canva Sans Bold"/>
                <a:sym typeface="Canva Sans Bold"/>
              </a:rPr>
              <a:t>Architecture &amp; Research Gap</a:t>
            </a:r>
          </a:p>
        </p:txBody>
      </p:sp>
      <p:sp>
        <p:nvSpPr>
          <p:cNvPr name="TextBox 3" id="3"/>
          <p:cNvSpPr txBox="true"/>
          <p:nvPr/>
        </p:nvSpPr>
        <p:spPr>
          <a:xfrm rot="0">
            <a:off x="1139705" y="1477009"/>
            <a:ext cx="16119595" cy="7781291"/>
          </a:xfrm>
          <a:prstGeom prst="rect">
            <a:avLst/>
          </a:prstGeom>
        </p:spPr>
        <p:txBody>
          <a:bodyPr anchor="t" rtlCol="false" tIns="0" lIns="0" bIns="0" rIns="0">
            <a:spAutoFit/>
          </a:bodyPr>
          <a:lstStyle/>
          <a:p>
            <a:pPr algn="l">
              <a:lnSpc>
                <a:spcPts val="4759"/>
              </a:lnSpc>
            </a:pPr>
            <a:r>
              <a:rPr lang="en-US" sz="3399" u="sng">
                <a:solidFill>
                  <a:srgbClr val="000000"/>
                </a:solidFill>
                <a:latin typeface="Canva Sans"/>
                <a:ea typeface="Canva Sans"/>
                <a:cs typeface="Canva Sans"/>
                <a:sym typeface="Canva Sans"/>
              </a:rPr>
              <a:t>Existing Systems (Limitations)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Depen</a:t>
            </a:r>
            <a:r>
              <a:rPr lang="en-US" sz="3399">
                <a:solidFill>
                  <a:srgbClr val="000000"/>
                </a:solidFill>
                <a:latin typeface="Canva Sans"/>
                <a:ea typeface="Canva Sans"/>
                <a:cs typeface="Canva Sans"/>
                <a:sym typeface="Canva Sans"/>
              </a:rPr>
              <a:t>d heavily on cloud servers and constant internet access.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Require smartphones and complex mobile applications.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Limited support for regional languages and dialects.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High response latency due to cloud processing.</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Privacy concerns due to centralized data storage.</a:t>
            </a:r>
          </a:p>
          <a:p>
            <a:pPr algn="l">
              <a:lnSpc>
                <a:spcPts val="4759"/>
              </a:lnSpc>
            </a:pPr>
            <a:r>
              <a:rPr lang="en-US" sz="3399" u="sng">
                <a:solidFill>
                  <a:srgbClr val="000000"/>
                </a:solidFill>
                <a:latin typeface="Canva Sans"/>
                <a:ea typeface="Canva Sans"/>
                <a:cs typeface="Canva Sans"/>
                <a:sym typeface="Canva Sans"/>
              </a:rPr>
              <a:t>Proposed System (Our Contribution)</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AI inference performed entirely on the edge device.</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Language-independent voice interaction.</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Minimal internet usage (only for essential IoT data).</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Low-latency responses and enhanced privacy.</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Designed for users with low digital literacy.</a:t>
            </a:r>
          </a:p>
          <a:p>
            <a:pPr algn="l">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3493371" y="2056844"/>
            <a:ext cx="11301259" cy="6173313"/>
          </a:xfrm>
          <a:custGeom>
            <a:avLst/>
            <a:gdLst/>
            <a:ahLst/>
            <a:cxnLst/>
            <a:rect r="r" b="b" t="t" l="l"/>
            <a:pathLst>
              <a:path h="6173313" w="11301259">
                <a:moveTo>
                  <a:pt x="0" y="0"/>
                </a:moveTo>
                <a:lnTo>
                  <a:pt x="11301258" y="0"/>
                </a:lnTo>
                <a:lnTo>
                  <a:pt x="11301258" y="6173312"/>
                </a:lnTo>
                <a:lnTo>
                  <a:pt x="0" y="6173312"/>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3725296" y="141605"/>
            <a:ext cx="10837408"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Expecte</a:t>
            </a:r>
            <a:r>
              <a:rPr lang="en-US" b="true" sz="5199">
                <a:solidFill>
                  <a:srgbClr val="000000"/>
                </a:solidFill>
                <a:latin typeface="Canva Sans Bold"/>
                <a:ea typeface="Canva Sans Bold"/>
                <a:cs typeface="Canva Sans Bold"/>
                <a:sym typeface="Canva Sans Bold"/>
              </a:rPr>
              <a:t>d Outcome</a:t>
            </a:r>
          </a:p>
        </p:txBody>
      </p:sp>
      <p:sp>
        <p:nvSpPr>
          <p:cNvPr name="TextBox 3" id="3"/>
          <p:cNvSpPr txBox="true"/>
          <p:nvPr/>
        </p:nvSpPr>
        <p:spPr>
          <a:xfrm rot="0">
            <a:off x="1028700" y="2119630"/>
            <a:ext cx="16230600" cy="5981066"/>
          </a:xfrm>
          <a:prstGeom prst="rect">
            <a:avLst/>
          </a:prstGeom>
        </p:spPr>
        <p:txBody>
          <a:bodyPr anchor="t" rtlCol="false" tIns="0" lIns="0" bIns="0" rIns="0">
            <a:spAutoFit/>
          </a:bodyPr>
          <a:lstStyle/>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Operational Prototype:</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A fully functional edge-based AI assistant for farmers.</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Multilingual Support:</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Accurate voice responses in native and regional languages.</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Context-Aware Advice:</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Personalized recommendations using weather and market data.</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Low Latency:</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Faster response compared to cloud-based systems.</a:t>
            </a:r>
          </a:p>
          <a:p>
            <a:pPr algn="l">
              <a:lnSpc>
                <a:spcPts val="4759"/>
              </a:lnSpc>
            </a:pPr>
          </a:p>
          <a:p>
            <a:pPr algn="l">
              <a:lnSpc>
                <a:spcPts val="4759"/>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3078638" y="2419667"/>
            <a:ext cx="12130724" cy="5380990"/>
          </a:xfrm>
          <a:prstGeom prst="rect">
            <a:avLst/>
          </a:prstGeom>
        </p:spPr>
        <p:txBody>
          <a:bodyPr anchor="t" rtlCol="false" tIns="0" lIns="0" bIns="0" rIns="0">
            <a:spAutoFit/>
          </a:bodyPr>
          <a:lstStyle/>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Offline</a:t>
            </a:r>
            <a:r>
              <a:rPr lang="en-US" sz="3399" u="sng">
                <a:solidFill>
                  <a:srgbClr val="000000"/>
                </a:solidFill>
                <a:latin typeface="Canva Sans"/>
                <a:ea typeface="Canva Sans"/>
                <a:cs typeface="Canva Sans"/>
                <a:sym typeface="Canva Sans"/>
              </a:rPr>
              <a:t> Capability:</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Works with limited or intermittent internet access.</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User-Friendly:</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Simple button-based interaction for low-literacy users.</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Scalable Solution:</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Can be deployed across villages at low cost.</a:t>
            </a:r>
          </a:p>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rPr>
              <a:t>Social Impact:</a:t>
            </a:r>
          </a:p>
          <a:p>
            <a:pPr algn="l">
              <a:lnSpc>
                <a:spcPts val="4759"/>
              </a:lnSpc>
            </a:pPr>
            <a:r>
              <a:rPr lang="en-US" sz="3399">
                <a:solidFill>
                  <a:srgbClr val="000000"/>
                </a:solidFill>
                <a:latin typeface="Canva Sans"/>
                <a:ea typeface="Canva Sans"/>
                <a:cs typeface="Canva Sans"/>
                <a:sym typeface="Canva Sans"/>
              </a:rPr>
              <a:t>       </a:t>
            </a:r>
            <a:r>
              <a:rPr lang="en-US" sz="3399">
                <a:solidFill>
                  <a:srgbClr val="000000"/>
                </a:solidFill>
                <a:latin typeface="Canva Sans"/>
                <a:ea typeface="Canva Sans"/>
                <a:cs typeface="Canva Sans"/>
                <a:sym typeface="Canva Sans"/>
              </a:rPr>
              <a:t>Empowers farmers to make informed decisions</a:t>
            </a:r>
          </a:p>
          <a:p>
            <a:pPr algn="l">
              <a:lnSpc>
                <a:spcPts val="475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aphicFrame>
        <p:nvGraphicFramePr>
          <p:cNvPr name="Object 2" id="2"/>
          <p:cNvGraphicFramePr/>
          <p:nvPr/>
        </p:nvGraphicFramePr>
        <p:xfrm>
          <a:off x="383072" y="1114862"/>
          <a:ext cx="16230600" cy="7110356"/>
        </p:xfrm>
        <a:graphic>
          <a:graphicData uri="http://schemas.openxmlformats.org/presentationml/2006/ole">
            <p:oleObj imgW="19469100" imgH="10350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354948" y="141605"/>
            <a:ext cx="9578103"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Refer</a:t>
            </a:r>
            <a:r>
              <a:rPr lang="en-US" b="true" sz="5199">
                <a:solidFill>
                  <a:srgbClr val="000000"/>
                </a:solidFill>
                <a:latin typeface="Canva Sans Bold"/>
                <a:ea typeface="Canva Sans Bold"/>
                <a:cs typeface="Canva Sans Bold"/>
                <a:sym typeface="Canva Sans Bold"/>
              </a:rPr>
              <a:t>ences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DAG7aJhN8Wg</dc:identifier>
  <dcterms:modified xsi:type="dcterms:W3CDTF">2011-08-01T06:04:30Z</dcterms:modified>
  <cp:revision>1</cp:revision>
  <dc:title>IoT Based Farmer Helper</dc:title>
</cp:coreProperties>
</file>