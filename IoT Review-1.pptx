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Canva Sans" panose="020B0604020202020204" charset="0"/>
      <p:regular r:id="rId13"/>
    </p:embeddedFont>
    <p:embeddedFont>
      <p:font typeface="Canva Sans Bold" panose="020B0604020202020204" charset="0"/>
      <p:regular r:id="rId14"/>
    </p:embeddedFont>
    <p:embeddedFont>
      <p:font typeface="DM Serif Display" pitchFamily="2" charset="0"/>
      <p:regular r:id="rId15"/>
    </p:embeddedFont>
    <p:embeddedFont>
      <p:font typeface="Open Sauce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link.springer.com/article/10.1007/s10462-024-11046-0?utm_source=chatgpt.com" TargetMode="External"/><Relationship Id="rId3" Type="http://schemas.openxmlformats.org/officeDocument/2006/relationships/hyperlink" Target="https://www.sciencedirect.com/science/article/abs/pii/S1574119225000483?utm_source=chatgpt.com" TargetMode="External"/><Relationship Id="rId7" Type="http://schemas.openxmlformats.org/officeDocument/2006/relationships/hyperlink" Target="https://link.springer.com/article/10.1186/s13677-024-00626-8?utm_source=chatgpt.com" TargetMode="External"/><Relationship Id="rId2" Type="http://schemas.openxmlformats.org/officeDocument/2006/relationships/hyperlink" Target="https://www.nature.com/articles/s41598-025-85486-1?utm_source=chatgpt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link.springer.com/article/10.1007/s44430-025-00006-0?utm_source=chatgpt.com" TargetMode="External"/><Relationship Id="rId11" Type="http://schemas.openxmlformats.org/officeDocument/2006/relationships/hyperlink" Target="https://www.researchgate.net/publication/393990887_Topic_Edge_AI_for_Smart_Agriculture_Leveraging_Low-Power_IoT_and_On-Device_Learning_for_Sustainable_Crop_Monitoring?utm_source=chatgpt.com" TargetMode="External"/><Relationship Id="rId5" Type="http://schemas.openxmlformats.org/officeDocument/2006/relationships/hyperlink" Target="https://ietresearch.onlinelibrary.wiley.com/doi/full/10.1049/ipr2.70208?utm_source=chatgpt.com" TargetMode="External"/><Relationship Id="rId10" Type="http://schemas.openxmlformats.org/officeDocument/2006/relationships/hyperlink" Target="https://inl.elsevierpure.com/en/publications/internet-of-things-iot-in-digital-agriculture-an-overview/?utm_source=chatgpt.com" TargetMode="External"/><Relationship Id="rId4" Type="http://schemas.openxmlformats.org/officeDocument/2006/relationships/hyperlink" Target="https://www.sciencedirect.com/science/article/pii/S2590123025033973?utm_source=chatgpt.com" TargetMode="External"/><Relationship Id="rId9" Type="http://schemas.openxmlformats.org/officeDocument/2006/relationships/hyperlink" Target="https://www.sciencedirect.com/science/article/pii/S2772375524000923?utm_source=chatgpt.com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abs/pii/S1574119225000483?utm_source=chatgpt.com" TargetMode="External"/><Relationship Id="rId2" Type="http://schemas.openxmlformats.org/officeDocument/2006/relationships/hyperlink" Target="https://www.nature.com/articles/s41598-025-85486-1?utm_source=chatgpt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sciencedirect.com/science/article/pii/S2665917423001484" TargetMode="External"/><Relationship Id="rId5" Type="http://schemas.openxmlformats.org/officeDocument/2006/relationships/hyperlink" Target="https://ietresearch.onlinelibrary.wiley.com/doi/full/10.1049/ipr2.70208?utm_source=chatgpt.com" TargetMode="External"/><Relationship Id="rId4" Type="http://schemas.openxmlformats.org/officeDocument/2006/relationships/hyperlink" Target="https://www.sciencedirect.com/science/article/pii/S2590123025033973?utm_source=chatgpt.com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2589721724000197" TargetMode="External"/><Relationship Id="rId2" Type="http://schemas.openxmlformats.org/officeDocument/2006/relationships/hyperlink" Target="https://link.springer.com/article/10.1007/s11042-024-18489-7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sciencedirect.com/science/article/pii/S2666154324000493" TargetMode="External"/><Relationship Id="rId4" Type="http://schemas.openxmlformats.org/officeDocument/2006/relationships/hyperlink" Target="https://www.sciencedirect.com/science/article/pii/S254266052400058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1582466"/>
            <a:ext cx="16879746" cy="3631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560"/>
              </a:lnSpc>
            </a:pPr>
            <a:r>
              <a:rPr lang="en-US" sz="10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IoT-Based Farmer Helper</a:t>
            </a:r>
          </a:p>
          <a:p>
            <a:pPr algn="ctr">
              <a:lnSpc>
                <a:spcPts val="14560"/>
              </a:lnSpc>
            </a:pPr>
            <a:endParaRPr lang="en-US" sz="10400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180543" y="5328331"/>
            <a:ext cx="9926914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Review -1</a:t>
            </a:r>
            <a:endParaRPr lang="en-US" sz="2400" spc="240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7477760"/>
            <a:ext cx="7398187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Names: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Thameemul Ansari U 22MIS1140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Shirish S 22MIS1121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8000" y="141605"/>
            <a:ext cx="4419600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OVERVIEW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997487"/>
            <a:ext cx="16230600" cy="6581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project is an IoT + AI based Farmer Helper Pocket Device designed for Indian farmers.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Many farmers don’t have smartphones or find mobile apps difficult to use.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 this device works as a small stand-alone assistant with a screen + buttons.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Farmers can get crop guidance, weather details, disease detection support, and market price updates.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It supports online connectivity for live updates and API usage.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goal is to bring AI support to rural areas in a simple and low-cost way.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device is portable, easy to carry, and can be used anytime on the field.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228165" y="141605"/>
            <a:ext cx="3831669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389716"/>
            <a:ext cx="16230600" cy="8381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develop a portable farmer-friendly device that works without a smartphone.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provide AI-based assistance for farming-related queries.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support crop recommendation and fertilizer guidance.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help farmers identify plant diseases and pest symptoms using AI.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provide weather forecast &amp; climate alerts using online APIs.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display market price updates for crops in nearby markets.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allow farmers to use the device with simple button navigation.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enable internet connectivity for real-time information.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reduce dependency on middlemen and improve farmer decision-making.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To create a scalable solution that can later support multiple local languages.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475274" y="141605"/>
            <a:ext cx="5337453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INTRODUCTION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163760" y="1097085"/>
            <a:ext cx="16230600" cy="8981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Farmers in rural areas often face problems like lack of reliable information about crop selection, fertilizers, pesticides, weather conditions, and market pricing. Even though mobile-based agricultural apps exist, many farmers do not use smartphones due to cost, lack of technical knowledge, and language difficulties.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This project introduces an IoT-based farmer helper pocket device which provides an easy interface with buttons and a screen. The device uses AI models and online APIs to answer farming-related questions and provide recommendations. It can help farmers in decision-making, improving productivity and reducing losses caused by wrong practices and late information.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The device is designed to be portable, low-power, and simple enough for real-world field usage. With internet connectivity, it can fetch real-time updates such as weather forecast, market prices, and modern farming techniques.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05092" y="1943100"/>
            <a:ext cx="14192955" cy="7752902"/>
          </a:xfrm>
          <a:custGeom>
            <a:avLst/>
            <a:gdLst/>
            <a:ahLst/>
            <a:cxnLst/>
            <a:rect l="l" t="t" r="r" b="b"/>
            <a:pathLst>
              <a:path w="14192955" h="7752902">
                <a:moveTo>
                  <a:pt x="0" y="0"/>
                </a:moveTo>
                <a:lnTo>
                  <a:pt x="14192955" y="0"/>
                </a:lnTo>
                <a:lnTo>
                  <a:pt x="14192955" y="7752902"/>
                </a:lnTo>
                <a:lnTo>
                  <a:pt x="0" y="77529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680332" y="141605"/>
            <a:ext cx="11864468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ARCHITECTURE / BLOCK DIAGRAM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777270" y="141605"/>
            <a:ext cx="6733461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COMPONENTS USED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477010"/>
            <a:ext cx="16077661" cy="7781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Hardware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Raspberry Pi (Processing Unit)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LCD / TFT Display (Output Screen)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Push Buttons / Keypad (Input Control)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Power Source (Battery / Power Bank)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Internet Module (Wi-Fi / Hotspot / Optional GSM module)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Software / Tools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Python Programming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AI Model / Chatbot API integration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Weather &amp; Market price APIs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Raspberry Pi OS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Basic UI application for navigation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255997" y="1307237"/>
            <a:ext cx="13776007" cy="8598654"/>
          </a:xfrm>
          <a:custGeom>
            <a:avLst/>
            <a:gdLst/>
            <a:ahLst/>
            <a:cxnLst/>
            <a:rect l="l" t="t" r="r" b="b"/>
            <a:pathLst>
              <a:path w="13776007" h="8598654">
                <a:moveTo>
                  <a:pt x="0" y="0"/>
                </a:moveTo>
                <a:lnTo>
                  <a:pt x="13776006" y="0"/>
                </a:lnTo>
                <a:lnTo>
                  <a:pt x="13776006" y="8598654"/>
                </a:lnTo>
                <a:lnTo>
                  <a:pt x="0" y="85986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787" r="-19782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191000" y="141605"/>
            <a:ext cx="10591800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CONNECTIVITY DIAGRAM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69608" y="141605"/>
            <a:ext cx="3153966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NOVELTY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31290" y="1519555"/>
            <a:ext cx="16230600" cy="7181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Works as a smart pocket device (no smartphone required).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Farmer-friendly interface using only buttons + simple display.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Provides real-time agriculture support using AI + APIs.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Combines multiple features in one device: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Weather Alerts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Crop recommendations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Market price updates</a:t>
            </a:r>
          </a:p>
          <a:p>
            <a:pPr marL="1468119" lvl="2" indent="-489373" algn="l">
              <a:lnSpc>
                <a:spcPts val="4759"/>
              </a:lnSpc>
              <a:buFont typeface="Arial"/>
              <a:buChar char="⚬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Disease guidance support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Designed specifically for rural accessibility and low digital literacy users.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Can be extended to support Tamil/Hindi/other regional languages.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Portable solution for on-field decision making.</a:t>
            </a:r>
          </a:p>
          <a:p>
            <a:pPr algn="l">
              <a:lnSpc>
                <a:spcPts val="4759"/>
              </a:lnSpc>
            </a:pPr>
            <a:endParaRPr lang="en-US" sz="3399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386090" y="141605"/>
            <a:ext cx="6034510" cy="8870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RELATED WORK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8D70D19-E4C3-CCCA-54FE-C6D1B42A4A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703077"/>
              </p:ext>
            </p:extLst>
          </p:nvPr>
        </p:nvGraphicFramePr>
        <p:xfrm>
          <a:off x="609600" y="1338633"/>
          <a:ext cx="16916400" cy="8697130"/>
        </p:xfrm>
        <a:graphic>
          <a:graphicData uri="http://schemas.openxmlformats.org/drawingml/2006/table">
            <a:tbl>
              <a:tblPr/>
              <a:tblGrid>
                <a:gridCol w="1273135">
                  <a:extLst>
                    <a:ext uri="{9D8B030D-6E8A-4147-A177-3AD203B41FA5}">
                      <a16:colId xmlns:a16="http://schemas.microsoft.com/office/drawing/2014/main" val="1491953985"/>
                    </a:ext>
                  </a:extLst>
                </a:gridCol>
                <a:gridCol w="7108865">
                  <a:extLst>
                    <a:ext uri="{9D8B030D-6E8A-4147-A177-3AD203B41FA5}">
                      <a16:colId xmlns:a16="http://schemas.microsoft.com/office/drawing/2014/main" val="693554228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25103068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1100708919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44665888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3307790831"/>
                    </a:ext>
                  </a:extLst>
                </a:gridCol>
              </a:tblGrid>
              <a:tr h="4080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S.No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Title (with link)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Authors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Year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Methodology / Frameworks / Tools / Approach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Research Gap / Limitation / Remarks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0367584"/>
                  </a:ext>
                </a:extLst>
              </a:tr>
              <a:tr h="8422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Smart crop disease monitoring system in IoT using deep learning</a:t>
                      </a:r>
                      <a:r>
                        <a:rPr lang="en-US" sz="1400"/>
                        <a:t> (</a:t>
                      </a:r>
                      <a:r>
                        <a:rPr lang="en-US" sz="1400">
                          <a:hlinkClick r:id="rId2" tooltip="Smart crop disease monitoring system in IoT using ..."/>
                        </a:rPr>
                        <a:t>Nature</a:t>
                      </a:r>
                      <a:r>
                        <a:rPr lang="en-US" sz="1400"/>
                        <a:t>)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A. Saini et al.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2025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IoT network + Deep Learning model, monitoring + classification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Mainly disease monitoring; does not provide a </a:t>
                      </a:r>
                      <a:r>
                        <a:rPr lang="en-US" sz="1400" b="1"/>
                        <a:t>portable farmer assistant device</a:t>
                      </a:r>
                      <a:r>
                        <a:rPr lang="en-US" sz="1400"/>
                        <a:t> with UI/buttons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2491930"/>
                  </a:ext>
                </a:extLst>
              </a:tr>
              <a:tr h="7605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Edge-aware CPS for plant disease detection (EdgePlantNet)</a:t>
                      </a:r>
                      <a:r>
                        <a:rPr lang="en-US" sz="1400"/>
                        <a:t> (</a:t>
                      </a:r>
                      <a:r>
                        <a:rPr lang="en-US" sz="1400">
                          <a:hlinkClick r:id="rId3" tooltip="Lightweight edge-aware cyber–physical system for plant ..."/>
                        </a:rPr>
                        <a:t>ScienceDirect</a:t>
                      </a:r>
                      <a:r>
                        <a:rPr lang="en-US" sz="1400"/>
                        <a:t>)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M. Zeeshan et al.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2025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Lightweight attention CNNs + Edge-aware CPS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Focused on edge detection accuracy; lacks </a:t>
                      </a:r>
                      <a:r>
                        <a:rPr lang="en-US" sz="1400" b="1"/>
                        <a:t>market+weather+assistant integration</a:t>
                      </a:r>
                      <a:endParaRPr lang="en-US" sz="1400"/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52573"/>
                  </a:ext>
                </a:extLst>
              </a:tr>
              <a:tr h="943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3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Edge-enabled smart agriculture framework integrating IoT + lightweight DL + agentic AI</a:t>
                      </a:r>
                      <a:r>
                        <a:rPr lang="en-US" sz="1400"/>
                        <a:t> (</a:t>
                      </a:r>
                      <a:r>
                        <a:rPr lang="en-US" sz="1400">
                          <a:hlinkClick r:id="rId4" tooltip="Edge-enabled smart agriculture framework: Integrating IoT ..."/>
                        </a:rPr>
                        <a:t>ScienceDirect</a:t>
                      </a:r>
                      <a:r>
                        <a:rPr lang="en-US" sz="1400"/>
                        <a:t>)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/>
                        <a:t>M.U. Tariq et al.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2025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IoT + lightweight DL + rule-based agentic AI + edge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More framework-based; not designed as a </a:t>
                      </a:r>
                      <a:r>
                        <a:rPr lang="en-US" sz="1400" b="1" dirty="0"/>
                        <a:t>simple offline-friendly pocket device</a:t>
                      </a:r>
                      <a:endParaRPr lang="en-US" sz="1400" dirty="0"/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7240362"/>
                  </a:ext>
                </a:extLst>
              </a:tr>
              <a:tr h="790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4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Deep Learning and IoT Fusion for Crop Health Monitoring (IET)</a:t>
                      </a:r>
                      <a:r>
                        <a:rPr lang="en-US" sz="1400" dirty="0"/>
                        <a:t> (</a:t>
                      </a:r>
                      <a:r>
                        <a:rPr lang="en-US" sz="1400" dirty="0">
                          <a:hlinkClick r:id="rId5" tooltip="Deep Learning and IoT Fusion for Crop Health Monitoring: A ..."/>
                        </a:rPr>
                        <a:t>ietresearch.onlinelibrary.wiley.com</a:t>
                      </a:r>
                      <a:r>
                        <a:rPr lang="en-US" sz="1400" dirty="0"/>
                        <a:t>)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T.K. Njoroge et al.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2025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IoT sensing + edge optimization + DL fusion model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Uses advanced optimization; still not aimed for </a:t>
                      </a:r>
                      <a:r>
                        <a:rPr lang="en-US" sz="1400" b="1"/>
                        <a:t>non-smartphone farmers</a:t>
                      </a:r>
                      <a:endParaRPr lang="en-US" sz="1400"/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9212100"/>
                  </a:ext>
                </a:extLst>
              </a:tr>
              <a:tr h="714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5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Emerging technologies for smart and sustainable precision agriculture (Springer)</a:t>
                      </a:r>
                      <a:r>
                        <a:rPr lang="en-US" sz="1400" dirty="0"/>
                        <a:t> (</a:t>
                      </a:r>
                      <a:r>
                        <a:rPr lang="en-US" sz="1400" dirty="0">
                          <a:hlinkClick r:id="rId6" tooltip="Emerging technologies for smart and sustainable precision ..."/>
                        </a:rPr>
                        <a:t>Springer</a:t>
                      </a:r>
                      <a:r>
                        <a:rPr lang="en-US" sz="1400" dirty="0"/>
                        <a:t>)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M. </a:t>
                      </a:r>
                      <a:r>
                        <a:rPr lang="en-IN" sz="1400" dirty="0" err="1"/>
                        <a:t>Padhiary</a:t>
                      </a:r>
                      <a:r>
                        <a:rPr lang="en-IN" sz="1400" dirty="0"/>
                        <a:t> et al.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2025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400"/>
                        <a:t>IoT + AI + ML + cloud + automation review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Review paper only; no </a:t>
                      </a:r>
                      <a:r>
                        <a:rPr lang="en-US" sz="1400" b="1"/>
                        <a:t>real working pocket assistant prototype</a:t>
                      </a:r>
                      <a:endParaRPr lang="en-US" sz="1400"/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8719611"/>
                  </a:ext>
                </a:extLst>
              </a:tr>
              <a:tr h="6789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6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Edge computing-oriented smart agricultural supply chain (Springer)</a:t>
                      </a:r>
                      <a:r>
                        <a:rPr lang="en-US" sz="1400"/>
                        <a:t> (</a:t>
                      </a:r>
                      <a:r>
                        <a:rPr lang="en-US" sz="1400">
                          <a:hlinkClick r:id="rId7" tooltip="Edge computing-oriented smart agricultural supply chain ..."/>
                        </a:rPr>
                        <a:t>Springer</a:t>
                      </a:r>
                      <a:r>
                        <a:rPr lang="en-US" sz="1400"/>
                        <a:t>)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Q. He et al.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2024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Edge computing + IoT supply chain support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Supply-chain centered; not direct farmer-level handheld solution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0558933"/>
                  </a:ext>
                </a:extLst>
              </a:tr>
              <a:tr h="6376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7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How IoT technology improves agricultural efficiency: A review (Springer)</a:t>
                      </a:r>
                      <a:r>
                        <a:rPr lang="en-US" sz="1400"/>
                        <a:t> (</a:t>
                      </a:r>
                      <a:r>
                        <a:rPr lang="en-US" sz="1400">
                          <a:hlinkClick r:id="rId8" tooltip="How the internet of things technology improves agricultural ..."/>
                        </a:rPr>
                        <a:t>Springer</a:t>
                      </a:r>
                      <a:r>
                        <a:rPr lang="en-US" sz="1400"/>
                        <a:t>)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A.L. Duguma et al.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2024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IoT adoption review, interoperability + scalability discussion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Highlights IoT issues but doesn’t propose </a:t>
                      </a:r>
                      <a:r>
                        <a:rPr lang="en-US" sz="1400" b="1"/>
                        <a:t>device UI solution</a:t>
                      </a:r>
                      <a:endParaRPr lang="en-US" sz="1400"/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000536"/>
                  </a:ext>
                </a:extLst>
              </a:tr>
              <a:tr h="943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8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A comprehensive review on smart &amp; sustainable agriculture using IoT (Elsevier / ScienceDirect)</a:t>
                      </a:r>
                      <a:r>
                        <a:rPr lang="en-US" sz="1400"/>
                        <a:t> (</a:t>
                      </a:r>
                      <a:r>
                        <a:rPr lang="en-US" sz="1400">
                          <a:hlinkClick r:id="rId9" tooltip="A comprehensive review on smart and sustainable ..."/>
                        </a:rPr>
                        <a:t>ScienceDirect</a:t>
                      </a:r>
                      <a:r>
                        <a:rPr lang="en-US" sz="1400"/>
                        <a:t>)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V. Kumar et al.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2024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IoT agriculture review, applications and challenges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Doesn’t provide an implementation for </a:t>
                      </a:r>
                      <a:r>
                        <a:rPr lang="en-US" sz="1400" b="1"/>
                        <a:t>farmers without smartphones</a:t>
                      </a:r>
                      <a:endParaRPr lang="en-US" sz="1400"/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3333267"/>
                  </a:ext>
                </a:extLst>
              </a:tr>
              <a:tr h="7141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9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Internet of Things (IoT) in digital agriculture: An overview (Elsevier Pure)</a:t>
                      </a:r>
                      <a:r>
                        <a:rPr lang="en-US" sz="1400"/>
                        <a:t> (</a:t>
                      </a:r>
                      <a:r>
                        <a:rPr lang="en-US" sz="1400">
                          <a:hlinkClick r:id="rId10" tooltip="Internet of Things (IoT) in digital agriculture: An overview"/>
                        </a:rPr>
                        <a:t>Idaho National Laboratory</a:t>
                      </a:r>
                      <a:r>
                        <a:rPr lang="en-US" sz="1400"/>
                        <a:t>)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S. Dhal et al.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2024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Overview of IoT platforms + WSN + cloud + big data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General overview; lacks practical low-cost portable design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24440"/>
                  </a:ext>
                </a:extLst>
              </a:tr>
              <a:tr h="7906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10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/>
                        <a:t>Edge computing for sustainable agriculture: A survey (IEEE Access)</a:t>
                      </a:r>
                      <a:r>
                        <a:rPr lang="en-US" sz="1400"/>
                        <a:t> (</a:t>
                      </a:r>
                      <a:r>
                        <a:rPr lang="en-US" sz="1400">
                          <a:hlinkClick r:id="rId11" tooltip="Edge AI for Smart Agriculture: Leveraging Low-Power IoT ..."/>
                        </a:rPr>
                        <a:t>ResearchGate</a:t>
                      </a:r>
                      <a:r>
                        <a:rPr lang="en-US" sz="1400"/>
                        <a:t>)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it-IT" sz="1400"/>
                        <a:t>Y. Li, X. Xu, C. Yang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2022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Edge computing survey for agriculture + IoT + sustainability</a:t>
                      </a:r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Survey paper, no </a:t>
                      </a:r>
                      <a:r>
                        <a:rPr lang="en-US" sz="1400" b="1" dirty="0"/>
                        <a:t>hardware UI/field-ready pocket assistant</a:t>
                      </a:r>
                      <a:endParaRPr lang="en-US" sz="1400" dirty="0"/>
                    </a:p>
                  </a:txBody>
                  <a:tcPr marL="14277" marR="14277" marT="7139" marB="713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854155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931997" y="141605"/>
            <a:ext cx="442400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REFERENCES 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0" y="1579321"/>
            <a:ext cx="18288000" cy="7910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[1] A. Saini, N. S. Gill, and M. A. Shah, “Smart crop disease monitoring system in IoT using optimization enabled deep residual network,” Scientific Reports, vol. 15, 2025.</a:t>
            </a:r>
          </a:p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Link: </a:t>
            </a:r>
            <a:r>
              <a:rPr lang="en-US" sz="2799" u="sng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2" tooltip="https://www.nature.com/articles/s41598-025-85486-1?utm_source=chatgpt.com"/>
              </a:rPr>
              <a:t>https://www.nature.com/articles/s41598-025-85486-1</a:t>
            </a:r>
            <a:r>
              <a:rPr lang="en-US" sz="27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[2] M. Zeeshan et al., “</a:t>
            </a:r>
            <a:r>
              <a:rPr lang="en-US" sz="27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EdgePlantNet</a:t>
            </a:r>
            <a:r>
              <a:rPr lang="en-US" sz="27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: Lightweight edge-aware cyber–physical system for plant disease detection using enhanced attention CNNs,” Pervasive and Mobile Computing, Elsevier, 2025.</a:t>
            </a:r>
          </a:p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Link: </a:t>
            </a:r>
            <a:r>
              <a:rPr lang="en-US" sz="2799" u="sng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3" tooltip="https://www.sciencedirect.com/science/article/abs/pii/S1574119225000483?utm_source=chatgpt.com"/>
              </a:rPr>
              <a:t>https://www.sciencedirect.com/science/article/abs/pii/S1574119225000483</a:t>
            </a:r>
            <a:r>
              <a:rPr lang="en-US" sz="27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[3] M. U. Tariq et al., “Edge-enabled smart agriculture framework: Integrating IoT, lightweight deep learning, and agentic AI for context-aware farming,” Results in Engineering, Elsevier, 2025.</a:t>
            </a:r>
          </a:p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Link: </a:t>
            </a:r>
            <a:r>
              <a:rPr lang="en-US" sz="2799" u="sng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4" tooltip="https://www.sciencedirect.com/science/article/pii/S2590123025033973?utm_source=chatgpt.com"/>
              </a:rPr>
              <a:t>https://www.sciencedirect.com/science/article/pii/S2590123025033973</a:t>
            </a:r>
            <a:r>
              <a:rPr lang="en-US" sz="27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[4] T. K. Njoroge, E. J. Omol, and V. O. Nyangaresi, “Deep learning and IoT fusion for crop health monitoring: A high-accuracy, edge-</a:t>
            </a:r>
            <a:r>
              <a:rPr lang="en-US" sz="2799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optimised</a:t>
            </a:r>
            <a:r>
              <a:rPr lang="en-US" sz="27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model for smart farming,” IET Image Processing, 2025.</a:t>
            </a:r>
          </a:p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Link: </a:t>
            </a:r>
            <a:r>
              <a:rPr lang="en-US" sz="2799" u="sng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5" tooltip="https://ietresearch.onlinelibrary.wiley.com/doi/full/10.1049/ipr2.70208?utm_source=chatgpt.com"/>
              </a:rPr>
              <a:t>https://ietresearch.onlinelibrary.wiley.com/doi/full/10.1049/ipr2.70208</a:t>
            </a:r>
            <a:r>
              <a:rPr lang="en-US" sz="27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[5] M. Sowmiya and R. Karthik, “IoT enabled prediction of agriculture’s plant disease using improved quantum whale optimization and deep learning,” Smart Agricultural Technology, Elsevier, 2023.</a:t>
            </a:r>
          </a:p>
          <a:p>
            <a:pPr algn="l">
              <a:lnSpc>
                <a:spcPts val="3919"/>
              </a:lnSpc>
            </a:pPr>
            <a:r>
              <a:rPr lang="en-US" sz="2799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Link: </a:t>
            </a:r>
            <a:r>
              <a:rPr lang="en-US" sz="2799" u="sng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  <a:hlinkClick r:id="rId6" tooltip="https://www.sciencedirect.com/science/article/pii/S2665917423001484"/>
              </a:rPr>
              <a:t>Add a little bit of body text</a:t>
            </a:r>
          </a:p>
          <a:p>
            <a:pPr algn="l">
              <a:lnSpc>
                <a:spcPts val="3919"/>
              </a:lnSpc>
            </a:pPr>
            <a:endParaRPr lang="en-US" sz="2799" u="sng" dirty="0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  <a:hlinkClick r:id="rId6" tooltip="https://www.sciencedirect.com/science/article/pii/S266591742300148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039" y="1181100"/>
            <a:ext cx="18288000" cy="73866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3200" dirty="0"/>
              <a:t>[6] Q. He </a:t>
            </a:r>
            <a:r>
              <a:rPr lang="en-IN" sz="3200" i="1" dirty="0"/>
              <a:t>et al</a:t>
            </a:r>
            <a:r>
              <a:rPr lang="en-IN" sz="3200" dirty="0"/>
              <a:t>., “Edge computing-oriented smart agricultural supply chain management: A systematic review,” </a:t>
            </a:r>
            <a:r>
              <a:rPr lang="en-IN" sz="3200" i="1" dirty="0"/>
              <a:t>Multimedia Tools and Applications</a:t>
            </a:r>
            <a:r>
              <a:rPr lang="en-IN" sz="3200" dirty="0"/>
              <a:t>, Springer, 2024.</a:t>
            </a:r>
            <a:br>
              <a:rPr lang="en-IN" sz="3200" dirty="0"/>
            </a:br>
            <a:r>
              <a:rPr lang="en-IN" sz="3200" dirty="0">
                <a:hlinkClick r:id="rId2"/>
              </a:rPr>
              <a:t>https://link.springer.com/article/10.1007/s11042-024-18489-7</a:t>
            </a:r>
            <a:endParaRPr lang="en-IN" sz="3200" dirty="0"/>
          </a:p>
          <a:p>
            <a:r>
              <a:rPr lang="en-IN" sz="3200" dirty="0"/>
              <a:t>[7] A. L. </a:t>
            </a:r>
            <a:r>
              <a:rPr lang="en-IN" sz="3200" dirty="0" err="1"/>
              <a:t>Duguma</a:t>
            </a:r>
            <a:r>
              <a:rPr lang="en-IN" sz="3200" dirty="0"/>
              <a:t> </a:t>
            </a:r>
            <a:r>
              <a:rPr lang="en-IN" sz="3200" i="1" dirty="0"/>
              <a:t>et al</a:t>
            </a:r>
            <a:r>
              <a:rPr lang="en-IN" sz="3200" dirty="0"/>
              <a:t>., “How IoT technology improves agricultural efficiency: A systematic literature review,” </a:t>
            </a:r>
            <a:r>
              <a:rPr lang="en-IN" sz="3200" i="1" dirty="0"/>
              <a:t>Artificial Intelligence for Agriculture</a:t>
            </a:r>
            <a:r>
              <a:rPr lang="en-IN" sz="3200" dirty="0"/>
              <a:t>, Elsevier, 2024.</a:t>
            </a:r>
            <a:br>
              <a:rPr lang="en-IN" sz="3200" dirty="0"/>
            </a:br>
            <a:r>
              <a:rPr lang="en-IN" sz="3200" dirty="0">
                <a:hlinkClick r:id="rId3"/>
              </a:rPr>
              <a:t>https://www.sciencedirect.com/science/article/pii/S2589721724000197</a:t>
            </a:r>
            <a:endParaRPr lang="en-IN" sz="3200" dirty="0"/>
          </a:p>
          <a:p>
            <a:r>
              <a:rPr lang="en-IN" sz="3200" dirty="0"/>
              <a:t>[8] V. Kumar </a:t>
            </a:r>
            <a:r>
              <a:rPr lang="en-IN" sz="3200" i="1" dirty="0"/>
              <a:t>et al</a:t>
            </a:r>
            <a:r>
              <a:rPr lang="en-IN" sz="3200" dirty="0"/>
              <a:t>., “Smart and sustainable agriculture using IoT and AI: A comprehensive review,” </a:t>
            </a:r>
            <a:r>
              <a:rPr lang="en-IN" sz="3200" i="1" dirty="0"/>
              <a:t>Internet of Things</a:t>
            </a:r>
            <a:r>
              <a:rPr lang="en-IN" sz="3200" dirty="0"/>
              <a:t>, Elsevier, 2024.</a:t>
            </a:r>
            <a:br>
              <a:rPr lang="en-IN" sz="3200" dirty="0"/>
            </a:br>
            <a:r>
              <a:rPr lang="en-IN" sz="3200" dirty="0">
                <a:hlinkClick r:id="rId4"/>
              </a:rPr>
              <a:t>https://www.sciencedirect.com/science/article/pii/S2542660524000586</a:t>
            </a:r>
            <a:endParaRPr lang="en-IN" sz="3200" dirty="0"/>
          </a:p>
          <a:p>
            <a:r>
              <a:rPr lang="en-IN" sz="3200" dirty="0"/>
              <a:t>[9] S. Dhal </a:t>
            </a:r>
            <a:r>
              <a:rPr lang="en-IN" sz="3200" i="1" dirty="0"/>
              <a:t>et al</a:t>
            </a:r>
            <a:r>
              <a:rPr lang="en-IN" sz="3200" dirty="0"/>
              <a:t>., “Internet of Things (IoT) in digital agriculture: A comprehensive overview,” </a:t>
            </a:r>
            <a:r>
              <a:rPr lang="en-IN" sz="3200" i="1" dirty="0"/>
              <a:t>Journal of Agriculture and Food Research</a:t>
            </a:r>
            <a:r>
              <a:rPr lang="en-IN" sz="3200" dirty="0"/>
              <a:t>, Elsevier, 2024.</a:t>
            </a:r>
            <a:br>
              <a:rPr lang="en-IN" sz="3200" dirty="0"/>
            </a:br>
            <a:r>
              <a:rPr lang="en-IN" sz="3200" dirty="0">
                <a:hlinkClick r:id="rId5"/>
              </a:rPr>
              <a:t>https://www.sciencedirect.com/science/article/pii/S2666154324000493</a:t>
            </a:r>
            <a:endParaRPr lang="en-IN" sz="3200" dirty="0"/>
          </a:p>
          <a:p>
            <a:r>
              <a:rPr lang="en-US" sz="3200" dirty="0"/>
              <a:t>[10] A. Rehman </a:t>
            </a:r>
            <a:r>
              <a:rPr lang="en-US" sz="3200" i="1" dirty="0"/>
              <a:t>et al</a:t>
            </a:r>
            <a:r>
              <a:rPr lang="en-US" sz="3200" dirty="0"/>
              <a:t>., “Smart Agriculture: An Overview of IoT, Edge Computing, and Machine Learning for Sustainable Farming,” </a:t>
            </a:r>
            <a:r>
              <a:rPr lang="en-US" sz="3200" i="1" dirty="0"/>
              <a:t>IEEE Access</a:t>
            </a:r>
            <a:r>
              <a:rPr lang="en-US" sz="3200" dirty="0"/>
              <a:t>, 2022.</a:t>
            </a:r>
            <a:br>
              <a:rPr lang="en-US" sz="3200" dirty="0"/>
            </a:br>
            <a:r>
              <a:rPr lang="en-US" sz="3200" dirty="0"/>
              <a:t>https://ieeexplore.ieee.org/document/9705201</a:t>
            </a:r>
            <a:endParaRPr lang="en-IN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1521</Words>
  <Application>Microsoft Office PowerPoint</Application>
  <PresentationFormat>Custom</PresentationFormat>
  <Paragraphs>138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DM Serif Display</vt:lpstr>
      <vt:lpstr>Canva Sans</vt:lpstr>
      <vt:lpstr>Canva Sans Bold</vt:lpstr>
      <vt:lpstr>Calibri</vt:lpstr>
      <vt:lpstr>Open Sauce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DA-1</dc:title>
  <cp:lastModifiedBy>Thameemul Ansari U</cp:lastModifiedBy>
  <cp:revision>4</cp:revision>
  <dcterms:created xsi:type="dcterms:W3CDTF">2006-08-16T00:00:00Z</dcterms:created>
  <dcterms:modified xsi:type="dcterms:W3CDTF">2026-01-20T14:43:38Z</dcterms:modified>
  <dc:identifier>DAG-9Ts4TRQ</dc:identifier>
</cp:coreProperties>
</file>